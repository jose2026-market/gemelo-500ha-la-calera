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3.xml"/><Relationship Id="rId4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4.xml"/><Relationship Id="rId4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ose2026-market.github.io/gemelo-500ha-la-calera/" TargetMode="Externa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SOCIEDAD RURAL DE SAN LUIS  ·  SERVICIO AL PRODUCTOR  ·  DPTO. BELGRANO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 campo.
En el mapa.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48840"/>
            <a:ext cx="6035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F7F1E4"/>
                </a:solidFill>
                <a:latin typeface="Georgia"/>
              </a:rPr>
              <a:t>No es un papel. Es su lote en el satélite, con suelo INTA, relieve y aguadas, para decidir.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6126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Se abre un campo de ejemplo en Belgrano. Después, el del productor.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Belgrano: 53.117 bovinos · 94,6 % de los campos son pecuarios.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Hoy la zona rinde ~6 kg carne/ha. Con manejo, se puede duplicar.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7F1E4"/>
                </a:solidFill>
                <a:latin typeface="Calibri"/>
              </a:rPr>
              <a:t>▸  Sin desmonte. Sin recortar el agua de bebida. No es soja.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051560"/>
            <a:ext cx="4937760" cy="4617720"/>
          </a:xfrm>
          <a:prstGeom prst="roundRect">
            <a:avLst>
              <a:gd name="adj" fmla="val 4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reford-vaca-ternero-belgr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1170432"/>
            <a:ext cx="4700016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285232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C4A35A"/>
                </a:solidFill>
                <a:latin typeface="Calibri"/>
              </a:rPr>
              <a:t>Hereford con ternero  ·  cría típica del oeste de San Luis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105156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Siguiente 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INTA REGIÓN III  ·  INICIAL  ·  MEJORANDO  ·  IDEAL  ·  AÑO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Tres situaciones.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7F1E4"/>
                </a:solidFill>
                <a:latin typeface="Calibri"/>
              </a:rPr>
              <a:t>El invierno limita cuántos animales se mantienen. Números INTA de zona; en su campo se lee ese lote.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INICIAL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12,6 ha/EV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~62 %
~5,9 kg carne/ha
Cómo está hoy el lote.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MEJORANDO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10 ha/EV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~85 %
~12 kg/ha
Rotar, dividir, aguada cerca.
Sembrar 1–2 ha. Sin desmonte.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965960"/>
            <a:ext cx="3566160" cy="352044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 tIns="146304"/>
          <a:lstStyle/>
          <a:p>
            <a:pPr algn="ctr"/>
            <a:r>
              <a:rPr sz="1200" b="1">
                <a:solidFill>
                  <a:srgbClr val="0D5C2C"/>
                </a:solidFill>
                <a:latin typeface="Calibri"/>
              </a:rPr>
              <a:t>IDEAL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083A1C"/>
                </a:solidFill>
                <a:latin typeface="Georgia"/>
              </a:rPr>
              <a:t>Techo INTA</a:t>
            </a:r>
          </a:p>
          <a:p>
            <a:pPr>
              <a:spcBef>
                <a:spcPts val="1000"/>
              </a:spcBef>
            </a:pPr>
            <a:r>
              <a:rPr sz="1400">
                <a:solidFill>
                  <a:srgbClr val="2D2016"/>
                </a:solidFill>
                <a:latin typeface="Calibri"/>
              </a:rPr>
              <a:t>Destete ~90 % en bajo
En loma no pasa de Mejorando.
Buffel solo si OTBN lo permite.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96128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4A35A"/>
                </a:solidFill>
                <a:latin typeface="Calibri"/>
              </a:rPr>
              <a:t>No se recorta el agua de bebida.  ·  No se desmonta.  ·  No es soja.  ·  Círculo continuo 400 m = cría; de puntos 800 m = adulta.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4572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←  Atrás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105156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Siguiente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0" fill="hold">
                      <p:stCondLst>
                        <p:cond delay="indefinite"/>
                      </p:stCondLst>
                      <p:childTnLst>
                        <p:par>
                          <p:cTn id="481" fill="hold">
                            <p:stCondLst>
                              <p:cond delay="0"/>
                            </p:stCondLst>
                            <p:childTnLst>
                              <p:par>
                                <p:cTn id="48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0" fill="hold">
                      <p:stCondLst>
                        <p:cond delay="indefinite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0" fill="hold">
                      <p:stCondLst>
                        <p:cond delay="indefinite"/>
                      </p:stCondLst>
                      <p:childTnLst>
                        <p:par>
                          <p:cTn id="641" fill="hold">
                            <p:stCondLst>
                              <p:cond delay="0"/>
                            </p:stCondLst>
                            <p:childTnLst>
                              <p:par>
                                <p:cTn id="64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EL CRESPÍN  ·  500 ha  ·  BELGRANO  ·  MODELO DE VISITA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Pasto y carga.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7F1E4"/>
                </a:solidFill>
                <a:latin typeface="Calibri"/>
              </a:rPr>
              <a:t>Verde = lo que produce el campo (no cambia). Cada clic sube la hacienda: 25 → 40 (tope INTA) → 70 vacas.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19072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200" b="1">
                <a:solidFill>
                  <a:srgbClr val="0D5C2C"/>
                </a:solidFill>
              </a:rPr>
              <a:t>1 · 25 vacas</a:t>
            </a:r>
          </a:p>
          <a:p>
            <a:r>
              <a:rPr sz="1100">
                <a:solidFill>
                  <a:srgbClr val="2D2016"/>
                </a:solidFill>
              </a:rPr>
              <a:t>Cabe: hay margen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719072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200" b="1">
                <a:solidFill>
                  <a:srgbClr val="0D5C2C"/>
                </a:solidFill>
              </a:rPr>
              <a:t>2 · 40 vacas</a:t>
            </a:r>
          </a:p>
          <a:p>
            <a:r>
              <a:rPr sz="1100">
                <a:solidFill>
                  <a:srgbClr val="2D2016"/>
                </a:solidFill>
              </a:rPr>
              <a:t>Tope del suelo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719072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200" b="1">
                <a:solidFill>
                  <a:srgbClr val="0D5C2C"/>
                </a:solidFill>
              </a:rPr>
              <a:t>3 · 70 vacas</a:t>
            </a:r>
          </a:p>
          <a:p>
            <a:r>
              <a:rPr sz="1100">
                <a:solidFill>
                  <a:srgbClr val="2D2016"/>
                </a:solidFill>
              </a:rPr>
              <a:t>Se pasó: intervenir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" y="2322576"/>
            <a:ext cx="7927848" cy="3447288"/>
          </a:xfrm>
          <a:prstGeom prst="roundRect">
            <a:avLst>
              <a:gd name="adj" fmla="val 8000"/>
            </a:avLst>
          </a:prstGeom>
          <a:solidFill>
            <a:srgbClr val="122A1C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2351" y="2395728"/>
            <a:ext cx="234543" cy="3063240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Ene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3861" y="2655324"/>
            <a:ext cx="234543" cy="2803643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871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Feb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5371" y="3174517"/>
            <a:ext cx="234543" cy="2284450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6022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76881" y="3589872"/>
            <a:ext cx="234543" cy="1869095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173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Abr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8391" y="4031186"/>
            <a:ext cx="234543" cy="1427781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May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79901" y="4368662"/>
            <a:ext cx="234543" cy="1090305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475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Jun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1411" y="4472500"/>
            <a:ext cx="234543" cy="986467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626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Jul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82921" y="4290783"/>
            <a:ext cx="234543" cy="1168184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777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Ago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34431" y="3693711"/>
            <a:ext cx="234543" cy="1765256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Sep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85941" y="3174517"/>
            <a:ext cx="234543" cy="2284450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079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Oct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7451" y="2811082"/>
            <a:ext cx="234543" cy="2647885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230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Nov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8961" y="2551485"/>
            <a:ext cx="234543" cy="2907482"/>
          </a:xfrm>
          <a:prstGeom prst="roundRect">
            <a:avLst>
              <a:gd name="adj" fmla="val 15000"/>
            </a:avLst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23810" y="5477256"/>
            <a:ext cx="65151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4A35A"/>
                </a:solidFill>
                <a:latin typeface="Calibri"/>
              </a:rPr>
              <a:t>Dic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295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43446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8597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73748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8899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4050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69201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4352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99503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64654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29805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949565" y="4723790"/>
            <a:ext cx="234543" cy="735177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12480" y="2395728"/>
            <a:ext cx="3337560" cy="3246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46304"/>
          <a:lstStyle/>
          <a:p>
            <a:pPr algn="ctr"/>
            <a:r>
              <a:rPr sz="1200" b="1">
                <a:solidFill>
                  <a:srgbClr val="0D5C2C"/>
                </a:solidFill>
              </a:rPr>
              <a:t>Decisión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2D2016"/>
                </a:solidFill>
              </a:rPr>
              <a:t>25 vacas · el pasto cubre el año. Puede subir hacia 40 (tope INTA 12,6 ha/EV).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295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43446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08597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73748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38899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04050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69201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34352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99503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4654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29805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949565" y="4294936"/>
            <a:ext cx="234543" cy="1164031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412480" y="2395728"/>
            <a:ext cx="3337560" cy="3246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46304"/>
          <a:lstStyle/>
          <a:p>
            <a:pPr algn="ctr"/>
            <a:r>
              <a:rPr sz="1200" b="1">
                <a:solidFill>
                  <a:srgbClr val="0D5C2C"/>
                </a:solidFill>
              </a:rPr>
              <a:t>Decisión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2D2016"/>
                </a:solidFill>
              </a:rPr>
              <a:t>40 vacas · tope del suelo en El Crespín. Invierno justo. No sume más sin obras.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295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43446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08597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73748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38899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04050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69201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34352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99503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64654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29805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49565" y="3559759"/>
            <a:ext cx="234543" cy="1899208"/>
          </a:xfrm>
          <a:prstGeom prst="roundRect">
            <a:avLst>
              <a:gd name="adj" fmla="val 15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12480" y="2395728"/>
            <a:ext cx="3337560" cy="3246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46304"/>
          <a:lstStyle/>
          <a:p>
            <a:pPr algn="ctr"/>
            <a:r>
              <a:rPr sz="1200" b="1">
                <a:solidFill>
                  <a:srgbClr val="0D5C2C"/>
                </a:solidFill>
              </a:rPr>
              <a:t>Decisión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2D2016"/>
                </a:solidFill>
              </a:rPr>
              <a:t>70 vacas · rojo en invierno. Baje ~30 o rote / diferido 1–2 ha. El pasto no cambió.</a:t>
            </a:r>
          </a:p>
        </p:txBody>
      </p:sp>
      <p:sp>
        <p:nvSpPr>
          <p:cNvPr id="692" name="TextBox 691"/>
          <p:cNvSpPr txBox="1"/>
          <p:nvPr/>
        </p:nvSpPr>
        <p:spPr>
          <a:xfrm>
            <a:off x="457200" y="5925312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4A35A"/>
                </a:solidFill>
                <a:latin typeface="Calibri"/>
              </a:rPr>
              <a:t>El Crespín es el modelo de la visita. En el campo del productor se lee su lote, su año y su hacienda.</a:t>
            </a:r>
          </a:p>
        </p:txBody>
      </p:sp>
      <p:sp>
        <p:nvSpPr>
          <p:cNvPr id="693" name="Rounded Rectangle 692">
            <a:hlinkClick action="ppaction://hlinksldjump" r:id="rId4"/>
          </p:cNvPr>
          <p:cNvSpPr/>
          <p:nvPr/>
        </p:nvSpPr>
        <p:spPr>
          <a:xfrm>
            <a:off x="4572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←  Atrás</a:t>
            </a:r>
          </a:p>
        </p:txBody>
      </p:sp>
      <p:sp>
        <p:nvSpPr>
          <p:cNvPr id="694" name="Rounded Rectangle 693">
            <a:hlinkClick action="ppaction://hlinksldjump" r:id="rId3"/>
          </p:cNvPr>
          <p:cNvSpPr/>
          <p:nvPr/>
        </p:nvSpPr>
        <p:spPr>
          <a:xfrm>
            <a:off x="105156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Siguiente  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0" fill="hold">
                      <p:stCondLst>
                        <p:cond delay="indefinite"/>
                      </p:stCondLst>
                      <p:childTnLst>
                        <p:par>
                          <p:cTn id="481" fill="hold">
                            <p:stCondLst>
                              <p:cond delay="0"/>
                            </p:stCondLst>
                            <p:childTnLst>
                              <p:par>
                                <p:cTn id="48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4" fill="hold">
                      <p:stCondLst>
                        <p:cond delay="indefinite"/>
                      </p:stCondLst>
                      <p:childTnLst>
                        <p:par>
                          <p:cTn id="485" fill="hold">
                            <p:stCondLst>
                              <p:cond delay="0"/>
                            </p:stCondLst>
                            <p:childTnLst>
                              <p:par>
                                <p:cTn id="48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8" fill="hold">
                      <p:stCondLst>
                        <p:cond delay="indefinite"/>
                      </p:stCondLst>
                      <p:childTnLst>
                        <p:par>
                          <p:cTn id="489" fill="hold">
                            <p:stCondLst>
                              <p:cond delay="0"/>
                            </p:stCondLst>
                            <p:childTnLst>
                              <p:par>
                                <p:cTn id="49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2" fill="hold">
                      <p:stCondLst>
                        <p:cond delay="indefinite"/>
                      </p:stCondLst>
                      <p:childTnLst>
                        <p:par>
                          <p:cTn id="493" fill="hold">
                            <p:stCondLst>
                              <p:cond delay="0"/>
                            </p:stCondLst>
                            <p:childTnLst>
                              <p:par>
                                <p:cTn id="49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6" fill="hold">
                      <p:stCondLst>
                        <p:cond delay="indefinite"/>
                      </p:stCondLst>
                      <p:childTnLst>
                        <p:par>
                          <p:cTn id="497" fill="hold">
                            <p:stCondLst>
                              <p:cond delay="0"/>
                            </p:stCondLst>
                            <p:childTnLst>
                              <p:par>
                                <p:cTn id="49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0" fill="hold">
                      <p:stCondLst>
                        <p:cond delay="indefinite"/>
                      </p:stCondLst>
                      <p:childTnLst>
                        <p:par>
                          <p:cTn id="501" fill="hold">
                            <p:stCondLst>
                              <p:cond delay="0"/>
                            </p:stCondLst>
                            <p:childTnLst>
                              <p:par>
                                <p:cTn id="50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4" fill="hold">
                      <p:stCondLst>
                        <p:cond delay="indefinite"/>
                      </p:stCondLst>
                      <p:childTnLst>
                        <p:par>
                          <p:cTn id="505" fill="hold">
                            <p:stCondLst>
                              <p:cond delay="0"/>
                            </p:stCondLst>
                            <p:childTnLst>
                              <p:par>
                                <p:cTn id="50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8" fill="hold">
                      <p:stCondLst>
                        <p:cond delay="indefinite"/>
                      </p:stCondLst>
                      <p:childTnLst>
                        <p:par>
                          <p:cTn id="509" fill="hold">
                            <p:stCondLst>
                              <p:cond delay="0"/>
                            </p:stCondLst>
                            <p:childTnLst>
                              <p:par>
                                <p:cTn id="51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2" fill="hold">
                      <p:stCondLst>
                        <p:cond delay="indefinite"/>
                      </p:stCondLst>
                      <p:childTnLst>
                        <p:par>
                          <p:cTn id="513" fill="hold">
                            <p:stCondLst>
                              <p:cond delay="0"/>
                            </p:stCondLst>
                            <p:childTnLst>
                              <p:par>
                                <p:cTn id="5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6" fill="hold">
                      <p:stCondLst>
                        <p:cond delay="indefinite"/>
                      </p:stCondLst>
                      <p:childTnLst>
                        <p:par>
                          <p:cTn id="517" fill="hold">
                            <p:stCondLst>
                              <p:cond delay="0"/>
                            </p:stCondLst>
                            <p:childTnLst>
                              <p:par>
                                <p:cTn id="5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0" fill="hold">
                      <p:stCondLst>
                        <p:cond delay="indefinite"/>
                      </p:stCondLst>
                      <p:childTnLst>
                        <p:par>
                          <p:cTn id="521" fill="hold">
                            <p:stCondLst>
                              <p:cond delay="0"/>
                            </p:stCondLst>
                            <p:childTnLst>
                              <p:par>
                                <p:cTn id="5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4" fill="hold">
                      <p:stCondLst>
                        <p:cond delay="indefinite"/>
                      </p:stCondLst>
                      <p:childTnLst>
                        <p:par>
                          <p:cTn id="525" fill="hold">
                            <p:stCondLst>
                              <p:cond delay="0"/>
                            </p:stCondLst>
                            <p:childTnLst>
                              <p:par>
                                <p:cTn id="52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8" fill="hold">
                      <p:stCondLst>
                        <p:cond delay="indefinite"/>
                      </p:stCondLst>
                      <p:childTnLst>
                        <p:par>
                          <p:cTn id="529" fill="hold">
                            <p:stCondLst>
                              <p:cond delay="0"/>
                            </p:stCondLst>
                            <p:childTnLst>
                              <p:par>
                                <p:cTn id="53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0" fill="hold">
                      <p:stCondLst>
                        <p:cond delay="indefinite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4" fill="hold">
                      <p:stCondLst>
                        <p:cond delay="indefinite"/>
                      </p:stCondLst>
                      <p:childTnLst>
                        <p:par>
                          <p:cTn id="565" fill="hold">
                            <p:stCondLst>
                              <p:cond delay="0"/>
                            </p:stCondLst>
                            <p:childTnLst>
                              <p:par>
                                <p:cTn id="566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8" fill="hold">
                      <p:stCondLst>
                        <p:cond delay="indefinite"/>
                      </p:stCondLst>
                      <p:childTnLst>
                        <p:par>
                          <p:cTn id="569" fill="hold">
                            <p:stCondLst>
                              <p:cond delay="0"/>
                            </p:stCondLst>
                            <p:childTnLst>
                              <p:par>
                                <p:cTn id="570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2" fill="hold">
                      <p:stCondLst>
                        <p:cond delay="indefinite"/>
                      </p:stCondLst>
                      <p:childTnLst>
                        <p:par>
                          <p:cTn id="573" fill="hold">
                            <p:stCondLst>
                              <p:cond delay="0"/>
                            </p:stCondLst>
                            <p:childTnLst>
                              <p:par>
                                <p:cTn id="57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6" fill="hold">
                      <p:stCondLst>
                        <p:cond delay="indefinite"/>
                      </p:stCondLst>
                      <p:childTnLst>
                        <p:par>
                          <p:cTn id="577" fill="hold">
                            <p:stCondLst>
                              <p:cond delay="0"/>
                            </p:stCondLst>
                            <p:childTnLst>
                              <p:par>
                                <p:cTn id="578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0" fill="hold">
                      <p:stCondLst>
                        <p:cond delay="indefinite"/>
                      </p:stCondLst>
                      <p:childTnLst>
                        <p:par>
                          <p:cTn id="581" fill="hold">
                            <p:stCondLst>
                              <p:cond delay="0"/>
                            </p:stCondLst>
                            <p:childTnLst>
                              <p:par>
                                <p:cTn id="582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4" fill="hold">
                      <p:stCondLst>
                        <p:cond delay="indefinite"/>
                      </p:stCondLst>
                      <p:childTnLst>
                        <p:par>
                          <p:cTn id="585" fill="hold">
                            <p:stCondLst>
                              <p:cond delay="0"/>
                            </p:stCondLst>
                            <p:childTnLst>
                              <p:par>
                                <p:cTn id="586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8" fill="hold">
                      <p:stCondLst>
                        <p:cond delay="indefinite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2" fill="hold">
                      <p:stCondLst>
                        <p:cond delay="indefinite"/>
                      </p:stCondLst>
                      <p:childTnLst>
                        <p:par>
                          <p:cTn id="593" fill="hold">
                            <p:stCondLst>
                              <p:cond delay="0"/>
                            </p:stCondLst>
                            <p:childTnLst>
                              <p:par>
                                <p:cTn id="59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6" fill="hold">
                      <p:stCondLst>
                        <p:cond delay="indefinite"/>
                      </p:stCondLst>
                      <p:childTnLst>
                        <p:par>
                          <p:cTn id="597" fill="hold">
                            <p:stCondLst>
                              <p:cond delay="0"/>
                            </p:stCondLst>
                            <p:childTnLst>
                              <p:par>
                                <p:cTn id="598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0" fill="hold">
                      <p:stCondLst>
                        <p:cond delay="indefinite"/>
                      </p:stCondLst>
                      <p:childTnLst>
                        <p:par>
                          <p:cTn id="601" fill="hold">
                            <p:stCondLst>
                              <p:cond delay="0"/>
                            </p:stCondLst>
                            <p:childTnLst>
                              <p:par>
                                <p:cTn id="602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4" fill="hold">
                      <p:stCondLst>
                        <p:cond delay="indefinite"/>
                      </p:stCondLst>
                      <p:childTnLst>
                        <p:par>
                          <p:cTn id="605" fill="hold">
                            <p:stCondLst>
                              <p:cond delay="0"/>
                            </p:stCondLst>
                            <p:childTnLst>
                              <p:par>
                                <p:cTn id="606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8" fill="hold">
                      <p:stCondLst>
                        <p:cond delay="indefinite"/>
                      </p:stCondLst>
                      <p:childTnLst>
                        <p:par>
                          <p:cTn id="609" fill="hold">
                            <p:stCondLst>
                              <p:cond delay="0"/>
                            </p:stCondLst>
                            <p:childTnLst>
                              <p:par>
                                <p:cTn id="610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0" fill="hold">
                      <p:stCondLst>
                        <p:cond delay="indefinite"/>
                      </p:stCondLst>
                      <p:childTnLst>
                        <p:par>
                          <p:cTn id="641" fill="hold">
                            <p:stCondLst>
                              <p:cond delay="0"/>
                            </p:stCondLst>
                            <p:childTnLst>
                              <p:par>
                                <p:cTn id="64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4" fill="hold">
                      <p:stCondLst>
                        <p:cond delay="indefinite"/>
                      </p:stCondLst>
                      <p:childTnLst>
                        <p:par>
                          <p:cTn id="645" fill="hold">
                            <p:stCondLst>
                              <p:cond delay="0"/>
                            </p:stCondLst>
                            <p:childTnLst>
                              <p:par>
                                <p:cTn id="646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8" fill="hold">
                      <p:stCondLst>
                        <p:cond delay="indefinite"/>
                      </p:stCondLst>
                      <p:childTnLst>
                        <p:par>
                          <p:cTn id="649" fill="hold">
                            <p:stCondLst>
                              <p:cond delay="0"/>
                            </p:stCondLst>
                            <p:childTnLst>
                              <p:par>
                                <p:cTn id="65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2" fill="hold">
                      <p:stCondLst>
                        <p:cond delay="indefinite"/>
                      </p:stCondLst>
                      <p:childTnLst>
                        <p:par>
                          <p:cTn id="653" fill="hold">
                            <p:stCondLst>
                              <p:cond delay="0"/>
                            </p:stCondLst>
                            <p:childTnLst>
                              <p:par>
                                <p:cTn id="65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6" fill="hold">
                      <p:stCondLst>
                        <p:cond delay="indefinite"/>
                      </p:stCondLst>
                      <p:childTnLst>
                        <p:par>
                          <p:cTn id="657" fill="hold">
                            <p:stCondLst>
                              <p:cond delay="0"/>
                            </p:stCondLst>
                            <p:childTnLst>
                              <p:par>
                                <p:cTn id="658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0" fill="hold">
                      <p:stCondLst>
                        <p:cond delay="indefinite"/>
                      </p:stCondLst>
                      <p:childTnLst>
                        <p:par>
                          <p:cTn id="661" fill="hold">
                            <p:stCondLst>
                              <p:cond delay="0"/>
                            </p:stCondLst>
                            <p:childTnLst>
                              <p:par>
                                <p:cTn id="66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4" fill="hold">
                      <p:stCondLst>
                        <p:cond delay="indefinite"/>
                      </p:stCondLst>
                      <p:childTnLst>
                        <p:par>
                          <p:cTn id="665" fill="hold">
                            <p:stCondLst>
                              <p:cond delay="0"/>
                            </p:stCondLst>
                            <p:childTnLst>
                              <p:par>
                                <p:cTn id="666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8" fill="hold">
                      <p:stCondLst>
                        <p:cond delay="indefinite"/>
                      </p:stCondLst>
                      <p:childTnLst>
                        <p:par>
                          <p:cTn id="669" fill="hold">
                            <p:stCondLst>
                              <p:cond delay="0"/>
                            </p:stCondLst>
                            <p:childTnLst>
                              <p:par>
                                <p:cTn id="6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2" fill="hold">
                      <p:stCondLst>
                        <p:cond delay="indefinite"/>
                      </p:stCondLst>
                      <p:childTnLst>
                        <p:par>
                          <p:cTn id="673" fill="hold">
                            <p:stCondLst>
                              <p:cond delay="0"/>
                            </p:stCondLst>
                            <p:childTnLst>
                              <p:par>
                                <p:cTn id="67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6" fill="hold">
                      <p:stCondLst>
                        <p:cond delay="indefinite"/>
                      </p:stCondLst>
                      <p:childTnLst>
                        <p:par>
                          <p:cTn id="677" fill="hold">
                            <p:stCondLst>
                              <p:cond delay="0"/>
                            </p:stCondLst>
                            <p:childTnLst>
                              <p:par>
                                <p:cTn id="678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0" fill="hold">
                      <p:stCondLst>
                        <p:cond delay="indefinite"/>
                      </p:stCondLst>
                      <p:childTnLst>
                        <p:par>
                          <p:cTn id="681" fill="hold">
                            <p:stCondLst>
                              <p:cond delay="0"/>
                            </p:stCondLst>
                            <p:childTnLst>
                              <p:par>
                                <p:cTn id="68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4" fill="hold">
                      <p:stCondLst>
                        <p:cond delay="indefinite"/>
                      </p:stCondLst>
                      <p:childTnLst>
                        <p:par>
                          <p:cTn id="685" fill="hold">
                            <p:stCondLst>
                              <p:cond delay="0"/>
                            </p:stCondLst>
                            <p:childTnLst>
                              <p:par>
                                <p:cTn id="686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8" fill="hold">
                      <p:stCondLst>
                        <p:cond delay="indefinite"/>
                      </p:stCondLst>
                      <p:childTnLst>
                        <p:par>
                          <p:cTn id="689" fill="hold">
                            <p:stCondLst>
                              <p:cond delay="0"/>
                            </p:stCondLst>
                            <p:childTnLst>
                              <p:par>
                                <p:cTn id="6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3A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ociedad-rural-san-lu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58368" cy="6583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11480" y="256032"/>
            <a:ext cx="6583680" cy="384048"/>
          </a:xfrm>
          <a:prstGeom prst="roundRect">
            <a:avLst>
              <a:gd name="adj" fmla="val 8000"/>
            </a:avLst>
          </a:prstGeom>
          <a:solidFill>
            <a:srgbClr val="083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C4A35A"/>
                </a:solidFill>
                <a:latin typeface="Calibri"/>
              </a:rPr>
              <a:t>CÓMO SE USA  ·  UNA VISITA AL PRODUCTOR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749807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Cuatro pasos.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72768"/>
            <a:ext cx="7818120" cy="960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792224"/>
            <a:ext cx="475488" cy="475488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45920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D5C2C"/>
                </a:solidFill>
              </a:rPr>
              <a:t>Las 4 esquinas</a:t>
            </a:r>
          </a:p>
          <a:p>
            <a:r>
              <a:rPr sz="1200">
                <a:solidFill>
                  <a:srgbClr val="2D2016"/>
                </a:solidFill>
              </a:rPr>
              <a:t>Plano de mensura: latitud Sur y longitud Oeste (φ y λ). No use X e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96896"/>
            <a:ext cx="7818120" cy="960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1792" y="2816352"/>
            <a:ext cx="475488" cy="475488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7004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D5C2C"/>
                </a:solidFill>
              </a:rPr>
              <a:t>Las aguadas</a:t>
            </a:r>
          </a:p>
          <a:p>
            <a:r>
              <a:rPr sz="1200">
                <a:solidFill>
                  <a:srgbClr val="2D2016"/>
                </a:solidFill>
              </a:rPr>
              <a:t>Toque cada represa o molino. 400 m cría · 800 m adulta. No se recorta bebida.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21024"/>
            <a:ext cx="7818120" cy="960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3840480"/>
            <a:ext cx="475488" cy="475488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94176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D5C2C"/>
                </a:solidFill>
              </a:rPr>
              <a:t>Manejo</a:t>
            </a:r>
          </a:p>
          <a:p>
            <a:r>
              <a:rPr sz="1200">
                <a:solidFill>
                  <a:srgbClr val="2D2016"/>
                </a:solidFill>
              </a:rPr>
              <a:t>Inicial, Mejorando e Ideal. En El Crespín, el calendario cruza pasto y carga mes a 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45152"/>
            <a:ext cx="7818120" cy="960120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" y="4864608"/>
            <a:ext cx="475488" cy="475488"/>
          </a:xfrm>
          <a:prstGeom prst="ellipse">
            <a:avLst/>
          </a:prstGeom>
          <a:solidFill>
            <a:srgbClr val="0D5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18304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D5C2C"/>
                </a:solidFill>
              </a:rPr>
              <a:t>El informe</a:t>
            </a:r>
          </a:p>
          <a:p>
            <a:r>
              <a:rPr sz="1200">
                <a:solidFill>
                  <a:srgbClr val="2D2016"/>
                </a:solidFill>
              </a:rPr>
              <a:t>Puntos críticos. Corto y mediano plazo. En el celular se ve igual; no queda guardado.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8200" y="1572768"/>
            <a:ext cx="3291840" cy="3822191"/>
          </a:xfrm>
          <a:prstGeom prst="roundRect">
            <a:avLst>
              <a:gd name="adj" fmla="val 8000"/>
            </a:avLst>
          </a:prstGeom>
          <a:solidFill>
            <a:srgbClr val="F7F1E4"/>
          </a:solidFill>
          <a:ln w="15875">
            <a:solidFill>
              <a:srgbClr val="C4A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300" b="1">
                <a:solidFill>
                  <a:srgbClr val="0D5C2C"/>
                </a:solidFill>
              </a:rPr>
              <a:t>Para recordar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Capas: satélite, INTA, OTBN, lluvia, forraje.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Manejo: Inicial / Mejorando / Ideal.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El Crespín: 25 → 40 → 70 vacas.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IA: interfaz, no el núcleo.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Computadora: se puede guardar.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D2016"/>
                </a:solidFill>
              </a:rPr>
              <a:t>▸ Celular: vista rápida, no guarda.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8458200" y="5532120"/>
            <a:ext cx="3291840" cy="43891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Abrir el gemelo</a:t>
            </a:r>
          </a:p>
        </p:txBody>
      </p:sp>
      <p:sp>
        <p:nvSpPr>
          <p:cNvPr id="19" name="Rounded Rectangle 18">
            <a:hlinkClick action="ppaction://hlinksldjump" r:id="rId4"/>
          </p:cNvPr>
          <p:cNvSpPr/>
          <p:nvPr/>
        </p:nvSpPr>
        <p:spPr>
          <a:xfrm>
            <a:off x="457200" y="6327648"/>
            <a:ext cx="1234440" cy="347472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083A1C"/>
                </a:solidFill>
                <a:latin typeface="Calibri"/>
              </a:rPr>
              <a:t>←  Atrás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0" fill="hold">
                      <p:stCondLst>
                        <p:cond delay="indefinite"/>
                      </p:stCondLst>
                      <p:childTnLst>
                        <p:par>
                          <p:cTn id="481" fill="hold">
                            <p:stCondLst>
                              <p:cond delay="0"/>
                            </p:stCondLst>
                            <p:childTnLst>
                              <p:par>
                                <p:cTn id="48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0" fill="hold">
                      <p:stCondLst>
                        <p:cond delay="indefinite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0" fill="hold">
                      <p:stCondLst>
                        <p:cond delay="indefinite"/>
                      </p:stCondLst>
                      <p:childTnLst>
                        <p:par>
                          <p:cTn id="641" fill="hold">
                            <p:stCondLst>
                              <p:cond delay="0"/>
                            </p:stCondLst>
                            <p:childTnLst>
                              <p:par>
                                <p:cTn id="64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0" fill="hold">
                      <p:stCondLst>
                        <p:cond delay="indefinite"/>
                      </p:stCondLst>
                      <p:childTnLst>
                        <p:par>
                          <p:cTn id="721" fill="hold">
                            <p:stCondLst>
                              <p:cond delay="0"/>
                            </p:stCondLst>
                            <p:childTnLst>
                              <p:par>
                                <p:cTn id="722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None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