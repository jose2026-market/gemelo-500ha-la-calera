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3.xml"/><Relationship Id="rId4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ose2026-market.github.io/gemelo-500ha-la-calera/" TargetMode="External"/><Relationship Id="rId4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3A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ociedad-rural-san-lu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58368" cy="65836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" y="256032"/>
            <a:ext cx="6583680" cy="384048"/>
          </a:xfrm>
          <a:prstGeom prst="roundRect">
            <a:avLst>
              <a:gd name="adj" fmla="val 8000"/>
            </a:avLst>
          </a:prstGeom>
          <a:solidFill>
            <a:srgbClr val="083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C4A35A"/>
                </a:solidFill>
                <a:latin typeface="Calibri"/>
              </a:rPr>
              <a:t>SOCIEDAD RURAL DE SAN LUIS  ·  SERVICIO AL PRODUCTOR  ·  DPTO. BELGRANO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4980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 campo.
En el mapa.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6035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F7F1E4"/>
                </a:solidFill>
                <a:latin typeface="Georgia"/>
              </a:rPr>
              <a:t>No es un papel. Es su lote en el satélite, con suelo INTA, relieve y aguadas, para decidir.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6126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7F1E4"/>
                </a:solidFill>
                <a:latin typeface="Calibri"/>
              </a:rPr>
              <a:t>▸  Demostrativo: 500 ha · La Calera (SW Belgrano).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7F1E4"/>
                </a:solidFill>
                <a:latin typeface="Calibri"/>
              </a:rPr>
              <a:t>▸  Belgrano: 53.117 bovinos · 94,6 % de los campos son pecuarios.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7F1E4"/>
                </a:solidFill>
                <a:latin typeface="Calibri"/>
              </a:rPr>
              <a:t>▸  Hoy la zona rinde ~6 kg carne/ha. Con manejo, se puede duplicar.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7F1E4"/>
                </a:solidFill>
                <a:latin typeface="Calibri"/>
              </a:rPr>
              <a:t>▸  Sin desmonte. Sin recortar el agua de bebida. No es soja.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051560"/>
            <a:ext cx="4937760" cy="4617720"/>
          </a:xfrm>
          <a:prstGeom prst="roundRect">
            <a:avLst>
              <a:gd name="adj" fmla="val 4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ereford-vaca-ternero-belgra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1170432"/>
            <a:ext cx="4700016" cy="4069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5285232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C4A35A"/>
                </a:solidFill>
                <a:latin typeface="Calibri"/>
              </a:rPr>
              <a:t>Hereford con ternero  ·  cría típica del oeste de San Luis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105156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Siguiente 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3A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ociedad-rural-san-lu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58368" cy="65836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" y="256032"/>
            <a:ext cx="6583680" cy="384048"/>
          </a:xfrm>
          <a:prstGeom prst="roundRect">
            <a:avLst>
              <a:gd name="adj" fmla="val 8000"/>
            </a:avLst>
          </a:prstGeom>
          <a:solidFill>
            <a:srgbClr val="083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C4A35A"/>
                </a:solidFill>
                <a:latin typeface="Calibri"/>
              </a:rPr>
              <a:t>INTA REGIÓN III  ·  ACTUAL  ·  MEJORADO 1  ·  ÓPTIMO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74980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Tres situaciones.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7F1E4"/>
                </a:solidFill>
                <a:latin typeface="Calibri"/>
              </a:rPr>
              <a:t>Toque cada recuadro (o clic en presentación). Números de zona INTA; en su campo se lee ese lote.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3566160" cy="352044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46304"/>
          <a:lstStyle/>
          <a:p>
            <a:pPr algn="ctr"/>
            <a:r>
              <a:rPr sz="1200" b="1">
                <a:solidFill>
                  <a:srgbClr val="0D5C2C"/>
                </a:solidFill>
                <a:latin typeface="Calibri"/>
              </a:rPr>
              <a:t>HOY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083A1C"/>
                </a:solidFill>
                <a:latin typeface="Georgia"/>
              </a:rPr>
              <a:t>12,6 ha/EV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2D2016"/>
                </a:solidFill>
                <a:latin typeface="Calibri"/>
              </a:rPr>
              <a:t>Destete ~62 %
~5,9 kg carne/ha
Carga alta, agua a veces lejos.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65960"/>
            <a:ext cx="3566160" cy="352044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46304"/>
          <a:lstStyle/>
          <a:p>
            <a:pPr algn="ctr"/>
            <a:r>
              <a:rPr sz="1200" b="1">
                <a:solidFill>
                  <a:srgbClr val="0D5C2C"/>
                </a:solidFill>
                <a:latin typeface="Calibri"/>
              </a:rPr>
              <a:t>MEJORADO 1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083A1C"/>
                </a:solidFill>
                <a:latin typeface="Georgia"/>
              </a:rPr>
              <a:t>10 ha/EV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2D2016"/>
                </a:solidFill>
                <a:latin typeface="Calibri"/>
              </a:rPr>
              <a:t>Destete ~85 %
~12 kg/ha
Rotar, descansar, bebida cerca.
Sin desmonte.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965960"/>
            <a:ext cx="3566160" cy="352044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46304"/>
          <a:lstStyle/>
          <a:p>
            <a:pPr algn="ctr"/>
            <a:r>
              <a:rPr sz="1200" b="1">
                <a:solidFill>
                  <a:srgbClr val="0D5C2C"/>
                </a:solidFill>
                <a:latin typeface="Calibri"/>
              </a:rPr>
              <a:t>ÓPTIMO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083A1C"/>
                </a:solidFill>
                <a:latin typeface="Georgia"/>
              </a:rPr>
              <a:t>Agua + manejo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2D2016"/>
                </a:solidFill>
                <a:latin typeface="Calibri"/>
              </a:rPr>
              <a:t>Destete ~90 %
Hasta 22–25 kg/ha
Inversión de agua. Buffel
solo si OTBN lo permite.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96128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4A35A"/>
                </a:solidFill>
                <a:latin typeface="Calibri"/>
              </a:rPr>
              <a:t>No se recorta el agua de bebida.  ·  No se desmonta.  ·  No es soja.  ·  Círculo continuo 400 m = cría; de puntos 800 m = adulta.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4572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←  Atrás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105156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Siguiente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3A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ociedad-rural-san-lu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58368" cy="65836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" y="256032"/>
            <a:ext cx="6583680" cy="384048"/>
          </a:xfrm>
          <a:prstGeom prst="roundRect">
            <a:avLst>
              <a:gd name="adj" fmla="val 8000"/>
            </a:avLst>
          </a:prstGeom>
          <a:solidFill>
            <a:srgbClr val="083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C4A35A"/>
                </a:solidFill>
                <a:latin typeface="Calibri"/>
              </a:rPr>
              <a:t>CÓMO SE USA  ·  UNA VISITA AL PRODUCTOR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74980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Tres pasos.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7818120" cy="1170432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2002536"/>
            <a:ext cx="530352" cy="530352"/>
          </a:xfrm>
          <a:prstGeom prst="ellipse">
            <a:avLst/>
          </a:prstGeom>
          <a:solidFill>
            <a:srgbClr val="0D5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01368"/>
            <a:ext cx="67665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5C2C"/>
                </a:solidFill>
              </a:rPr>
              <a:t>Las 4 esquinas</a:t>
            </a:r>
          </a:p>
          <a:p>
            <a:r>
              <a:rPr sz="1300">
                <a:solidFill>
                  <a:srgbClr val="2D2016"/>
                </a:solidFill>
              </a:rPr>
              <a:t>Plano de mensura: latitud Sur y longitud Oeste (φ y λ).
No use X e Y. Si hay 2 vértices, el resto se toca en el satélite.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90088"/>
            <a:ext cx="7818120" cy="1170432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" y="3300984"/>
            <a:ext cx="530352" cy="530352"/>
          </a:xfrm>
          <a:prstGeom prst="ellipse">
            <a:avLst/>
          </a:prstGeom>
          <a:solidFill>
            <a:srgbClr val="0D5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099816"/>
            <a:ext cx="67665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5C2C"/>
                </a:solidFill>
              </a:rPr>
              <a:t>Las aguadas</a:t>
            </a:r>
          </a:p>
          <a:p>
            <a:r>
              <a:rPr sz="1300">
                <a:solidFill>
                  <a:srgbClr val="2D2016"/>
                </a:solidFill>
              </a:rPr>
              <a:t>Toque cada represa, molino o bebedero. Si se equivoca, toque la gota y Quitar.
400 m cría · 800 m adulta. No se recorta bebida.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88536"/>
            <a:ext cx="7818120" cy="1170432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4599431"/>
            <a:ext cx="530352" cy="530352"/>
          </a:xfrm>
          <a:prstGeom prst="ellipse">
            <a:avLst/>
          </a:prstGeom>
          <a:solidFill>
            <a:srgbClr val="0D5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398264"/>
            <a:ext cx="67665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D5C2C"/>
                </a:solidFill>
              </a:rPr>
              <a:t>El informe</a:t>
            </a:r>
          </a:p>
          <a:p>
            <a:r>
              <a:rPr sz="1300">
                <a:solidFill>
                  <a:srgbClr val="2D2016"/>
                </a:solidFill>
              </a:rPr>
              <a:t>Puntos críticos: corto plazo (sin plata) y mediano (con agua).
En el celular se ve igual; el campo no queda guardado.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691640"/>
            <a:ext cx="3291840" cy="370332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300" b="1">
                <a:solidFill>
                  <a:srgbClr val="0D5C2C"/>
                </a:solidFill>
              </a:rPr>
              <a:t>Para recordar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Capas: satélite, suelos INTA, OTBN.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Manejo: Actual / M1 / Óptimo.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IA: interfaz, no el núcleo.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Demostrativo ≠ su padrón.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Computadora: se puede guardar.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Celular: vista rápida, no guarda.</a:t>
            </a:r>
          </a:p>
        </p:txBody>
      </p:sp>
      <p:sp>
        <p:nvSpPr>
          <p:cNvPr id="15" name="Rounded Rectangle 14">
            <a:hlinkClick r:id="rId3"/>
          </p:cNvPr>
          <p:cNvSpPr/>
          <p:nvPr/>
        </p:nvSpPr>
        <p:spPr>
          <a:xfrm>
            <a:off x="8458200" y="5532120"/>
            <a:ext cx="3291840" cy="43891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Abrir el gemelo</a:t>
            </a:r>
          </a:p>
        </p:txBody>
      </p:sp>
      <p:sp>
        <p:nvSpPr>
          <p:cNvPr id="16" name="Rounded Rectangle 15">
            <a:hlinkClick action="ppaction://hlinksldjump" r:id="rId4"/>
          </p:cNvPr>
          <p:cNvSpPr/>
          <p:nvPr/>
        </p:nvSpPr>
        <p:spPr>
          <a:xfrm>
            <a:off x="4572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←  Atrás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