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ose2026-market.github.io/gemelo-500ha-la-calera/" TargetMode="Externa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A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ociedad-rural-san-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01168"/>
            <a:ext cx="658368" cy="6583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6583680" cy="384048"/>
          </a:xfrm>
          <a:prstGeom prst="roundRect">
            <a:avLst>
              <a:gd name="adj" fmla="val 8000"/>
            </a:avLst>
          </a:prstGeom>
          <a:solidFill>
            <a:srgbClr val="08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SOCIEDAD RURAL DE SAN LUIS  ·  SERVICIO AL PRODUCTOR  ·  DPTO. BELGRANO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 campo.
En el mapa.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7F1E4"/>
                </a:solidFill>
                <a:latin typeface="Georgia"/>
              </a:rPr>
              <a:t>No es un papel. Es su lote en el satélite, con suelo INTA, relieve y aguadas, para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6126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7F1E4"/>
                </a:solidFill>
                <a:latin typeface="Calibri"/>
              </a:rPr>
              <a:t>▸  Se abre un campo de ejemplo en Belgrano. Después, el del productor.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7F1E4"/>
                </a:solidFill>
                <a:latin typeface="Calibri"/>
              </a:rPr>
              <a:t>▸  Belgrano: 53.117 bovinos · 94,6 % de los campos son pecuarios.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7F1E4"/>
                </a:solidFill>
                <a:latin typeface="Calibri"/>
              </a:rPr>
              <a:t>▸  Hoy la zona rinde ~6 kg carne/ha. Con manejo, se puede duplicar.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7F1E4"/>
                </a:solidFill>
                <a:latin typeface="Calibri"/>
              </a:rPr>
              <a:t>▸  Sin desmonte. Sin recortar el agua de bebida. No es soja.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051560"/>
            <a:ext cx="4937760" cy="4617720"/>
          </a:xfrm>
          <a:prstGeom prst="roundRect">
            <a:avLst>
              <a:gd name="adj" fmla="val 4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reford-vaca-ternero-belgr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1170432"/>
            <a:ext cx="4700016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528523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C4A35A"/>
                </a:solidFill>
                <a:latin typeface="Calibri"/>
              </a:rPr>
              <a:t>Hereford con ternero  ·  cría típica del oeste de San Luis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105156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Siguiente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A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ociedad-rural-san-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01168"/>
            <a:ext cx="658368" cy="6583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6583680" cy="384048"/>
          </a:xfrm>
          <a:prstGeom prst="roundRect">
            <a:avLst>
              <a:gd name="adj" fmla="val 8000"/>
            </a:avLst>
          </a:prstGeom>
          <a:solidFill>
            <a:srgbClr val="08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INTA REGIÓN III  ·  INICIAL  ·  MEJORANDO  ·  IDEAL  ·  AÑO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Tres situaciones.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1E4"/>
                </a:solidFill>
                <a:latin typeface="Calibri"/>
              </a:rPr>
              <a:t>El invierno limita cuántos animales se mantienen. Números INTA de zona; en su campo se lee ese lote.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46304"/>
          <a:lstStyle/>
          <a:p>
            <a:pPr algn="ctr"/>
            <a:r>
              <a:rPr sz="1200" b="1">
                <a:solidFill>
                  <a:srgbClr val="0D5C2C"/>
                </a:solidFill>
                <a:latin typeface="Calibri"/>
              </a:rPr>
              <a:t>INICIAL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083A1C"/>
                </a:solidFill>
                <a:latin typeface="Georgia"/>
              </a:rPr>
              <a:t>12,6 ha/EV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D2016"/>
                </a:solidFill>
                <a:latin typeface="Calibri"/>
              </a:rPr>
              <a:t>Destete ~62 %
~5,9 kg carne/ha
Cómo está hoy el lote.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6596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46304"/>
          <a:lstStyle/>
          <a:p>
            <a:pPr algn="ctr"/>
            <a:r>
              <a:rPr sz="1200" b="1">
                <a:solidFill>
                  <a:srgbClr val="0D5C2C"/>
                </a:solidFill>
                <a:latin typeface="Calibri"/>
              </a:rPr>
              <a:t>MEJORANDO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083A1C"/>
                </a:solidFill>
                <a:latin typeface="Georgia"/>
              </a:rPr>
              <a:t>10 ha/EV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D2016"/>
                </a:solidFill>
                <a:latin typeface="Calibri"/>
              </a:rPr>
              <a:t>Destete ~85 %
~12 kg/ha
Rotar, dividir, aguada cerca.
Sembrar 1–2 ha. Sin desmonte.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96596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46304"/>
          <a:lstStyle/>
          <a:p>
            <a:pPr algn="ctr"/>
            <a:r>
              <a:rPr sz="1200" b="1">
                <a:solidFill>
                  <a:srgbClr val="0D5C2C"/>
                </a:solidFill>
                <a:latin typeface="Calibri"/>
              </a:rPr>
              <a:t>IDEAL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083A1C"/>
                </a:solidFill>
                <a:latin typeface="Georgia"/>
              </a:rPr>
              <a:t>Techo INTA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2D2016"/>
                </a:solidFill>
                <a:latin typeface="Calibri"/>
              </a:rPr>
              <a:t>Destete ~90 % en bajo
En loma no pasa de Mejorando.
Buffel solo si OTBN lo permite.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9612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A35A"/>
                </a:solidFill>
                <a:latin typeface="Calibri"/>
              </a:rPr>
              <a:t>No se recorta el agua de bebida.  ·  No se desmonta.  ·  No es soja.  ·  Círculo continuo 400 m = cría; de puntos 800 m = adulta.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4572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←  Atrás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105156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Siguiente 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A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ociedad-rural-san-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01168"/>
            <a:ext cx="658368" cy="6583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6583680" cy="384048"/>
          </a:xfrm>
          <a:prstGeom prst="roundRect">
            <a:avLst>
              <a:gd name="adj" fmla="val 8000"/>
            </a:avLst>
          </a:prstGeom>
          <a:solidFill>
            <a:srgbClr val="08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DIAGNÓSTICO  ·  OFERTA Y CARGA MES A 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Cuándo actuar.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7F1E4"/>
                </a:solidFill>
                <a:latin typeface="Calibri"/>
              </a:rPr>
              <a:t>Verde = pasto del mes.  Oro = lo que comen.  Rojo = ese mes hay que intervenir.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/>
            <a:r>
              <a:rPr sz="1100" b="1">
                <a:solidFill>
                  <a:srgbClr val="0D5C2C"/>
                </a:solidFill>
              </a:rPr>
              <a:t>HOY</a:t>
            </a:r>
          </a:p>
          <a:p>
            <a:r>
              <a:rPr sz="2000" b="1">
                <a:solidFill>
                  <a:srgbClr val="083A1C"/>
                </a:solidFill>
              </a:rPr>
              <a:t>6 vacas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/>
            <a:r>
              <a:rPr sz="1100" b="1">
                <a:solidFill>
                  <a:srgbClr val="0D5C2C"/>
                </a:solidFill>
              </a:rPr>
              <a:t>EL SUELO CUBRE EL AÑO</a:t>
            </a:r>
          </a:p>
          <a:p>
            <a:r>
              <a:rPr sz="2000" b="1">
                <a:solidFill>
                  <a:srgbClr val="083A1C"/>
                </a:solidFill>
              </a:rPr>
              <a:t>5 en año seco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74519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/>
            <a:r>
              <a:rPr sz="1100" b="1">
                <a:solidFill>
                  <a:srgbClr val="0D5C2C"/>
                </a:solidFill>
              </a:rPr>
              <a:t>DECISIÓN</a:t>
            </a:r>
          </a:p>
          <a:p>
            <a:r>
              <a:rPr sz="2000" b="1">
                <a:solidFill>
                  <a:srgbClr val="083A1C"/>
                </a:solidFill>
              </a:rPr>
              <a:t>Bajar 1  o diferido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1800" b="1">
                <a:solidFill>
                  <a:srgbClr val="0D5C2C"/>
                </a:solidFill>
              </a:rPr>
              <a:t>Bajar carga o no subir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154680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1800" b="1">
                <a:solidFill>
                  <a:srgbClr val="0D5C2C"/>
                </a:solidFill>
              </a:rPr>
              <a:t>Rotar · dividir el cuadro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1800" b="1">
                <a:solidFill>
                  <a:srgbClr val="0D5C2C"/>
                </a:solidFill>
              </a:rPr>
              <a:t>Acercar aguada (si &gt; 400 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206240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1800" b="1">
                <a:solidFill>
                  <a:srgbClr val="0D5C2C"/>
                </a:solidFill>
              </a:rPr>
              <a:t>Sembrar 1–2 ha de diferido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4A35A"/>
                </a:solidFill>
                <a:latin typeface="Calibri"/>
              </a:rPr>
              <a:t>El cuello de botella es el invierno. Inversión mínima. OTBN I: no sembrar ni desmontar. El monte se usa, no se saca.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4572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←  Atrás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05156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Siguiente 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A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ociedad-rural-san-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01168"/>
            <a:ext cx="658368" cy="6583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6583680" cy="384048"/>
          </a:xfrm>
          <a:prstGeom prst="roundRect">
            <a:avLst>
              <a:gd name="adj" fmla="val 8000"/>
            </a:avLst>
          </a:prstGeom>
          <a:solidFill>
            <a:srgbClr val="08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CÓMO SE USA  ·  UNA VISITA AL PRODUCTOR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Cuatro pasos.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72768"/>
            <a:ext cx="7818120" cy="960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792224"/>
            <a:ext cx="475488" cy="475488"/>
          </a:xfrm>
          <a:prstGeom prst="ellipse">
            <a:avLst/>
          </a:prstGeom>
          <a:solidFill>
            <a:srgbClr val="0D5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5C2C"/>
                </a:solidFill>
              </a:rPr>
              <a:t>Las 4 esquinas</a:t>
            </a:r>
          </a:p>
          <a:p>
            <a:r>
              <a:rPr sz="1200">
                <a:solidFill>
                  <a:srgbClr val="2D2016"/>
                </a:solidFill>
              </a:rPr>
              <a:t>Plano de mensura: latitud Sur y longitud Oeste (φ y λ). No use X e 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96896"/>
            <a:ext cx="7818120" cy="960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2816352"/>
            <a:ext cx="475488" cy="475488"/>
          </a:xfrm>
          <a:prstGeom prst="ellipse">
            <a:avLst/>
          </a:prstGeom>
          <a:solidFill>
            <a:srgbClr val="0D5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5C2C"/>
                </a:solidFill>
              </a:rPr>
              <a:t>Las aguadas</a:t>
            </a:r>
          </a:p>
          <a:p>
            <a:r>
              <a:rPr sz="1200">
                <a:solidFill>
                  <a:srgbClr val="2D2016"/>
                </a:solidFill>
              </a:rPr>
              <a:t>Toque cada represa o molino. 400 m cría · 800 m adulta. No se recorta bebida.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21024"/>
            <a:ext cx="7818120" cy="960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3840480"/>
            <a:ext cx="475488" cy="475488"/>
          </a:xfrm>
          <a:prstGeom prst="ellipse">
            <a:avLst/>
          </a:prstGeom>
          <a:solidFill>
            <a:srgbClr val="0D5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94176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5C2C"/>
                </a:solidFill>
              </a:rPr>
              <a:t>Manejo</a:t>
            </a:r>
          </a:p>
          <a:p>
            <a:r>
              <a:rPr sz="1200">
                <a:solidFill>
                  <a:srgbClr val="2D2016"/>
                </a:solidFill>
              </a:rPr>
              <a:t>Inicial, Mejorando e Ideal. El calendario dice hasta dónde subir y en qué mes actuar.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45152"/>
            <a:ext cx="7818120" cy="96012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" y="4864608"/>
            <a:ext cx="475488" cy="475488"/>
          </a:xfrm>
          <a:prstGeom prst="ellipse">
            <a:avLst/>
          </a:prstGeom>
          <a:solidFill>
            <a:srgbClr val="0D5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18304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5C2C"/>
                </a:solidFill>
              </a:rPr>
              <a:t>El informe</a:t>
            </a:r>
          </a:p>
          <a:p>
            <a:r>
              <a:rPr sz="1200">
                <a:solidFill>
                  <a:srgbClr val="2D2016"/>
                </a:solidFill>
              </a:rPr>
              <a:t>Puntos críticos. Corto y mediano plazo. En el celular se ve igual; no queda guardado.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572768"/>
            <a:ext cx="3291840" cy="3822191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5875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ctr"/>
            <a:r>
              <a:rPr sz="1300" b="1">
                <a:solidFill>
                  <a:srgbClr val="0D5C2C"/>
                </a:solidFill>
              </a:rPr>
              <a:t>Para recordar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Capas: satélite, INTA, OTBN, lluvia, forraje.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Manejo: Inicial / Mejorando / Ideal.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Calendario: verde pasto, rojo actuar.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IA: interfaz, no el núcleo.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Computadora: se puede guardar.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2D2016"/>
                </a:solidFill>
              </a:rPr>
              <a:t>▸ Celular: vista rápida, no guarda.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458200" y="5532120"/>
            <a:ext cx="3291840" cy="43891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Abrir el gemelo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457200" y="6327648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83A1C"/>
                </a:solidFill>
                <a:latin typeface="Calibri"/>
              </a:rPr>
              <a:t>←  Atrás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